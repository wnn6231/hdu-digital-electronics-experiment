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84" r:id="rId3"/>
    <p:sldId id="285" r:id="rId4"/>
    <p:sldId id="286" r:id="rId5"/>
    <p:sldId id="303" r:id="rId6"/>
    <p:sldId id="304" r:id="rId7"/>
    <p:sldId id="305" r:id="rId8"/>
    <p:sldId id="328" r:id="rId9"/>
    <p:sldId id="329" r:id="rId10"/>
    <p:sldId id="330" r:id="rId11"/>
    <p:sldId id="331" r:id="rId12"/>
    <p:sldId id="332" r:id="rId13"/>
    <p:sldId id="333" r:id="rId14"/>
    <p:sldId id="306" r:id="rId15"/>
    <p:sldId id="307" r:id="rId16"/>
    <p:sldId id="308" r:id="rId17"/>
    <p:sldId id="334" r:id="rId18"/>
    <p:sldId id="335" r:id="rId19"/>
    <p:sldId id="289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0BC7"/>
    <a:srgbClr val="1D3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8" y="7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5.jpeg"/><Relationship Id="rId18" Type="http://schemas.openxmlformats.org/officeDocument/2006/relationships/image" Target="../media/image10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slideMaster" Target="../slideMasters/slideMaster2.xml"/><Relationship Id="rId17" Type="http://schemas.openxmlformats.org/officeDocument/2006/relationships/image" Target="../media/image9.png"/><Relationship Id="rId2" Type="http://schemas.openxmlformats.org/officeDocument/2006/relationships/tags" Target="../tags/tag9.xml"/><Relationship Id="rId16" Type="http://schemas.openxmlformats.org/officeDocument/2006/relationships/image" Target="../media/image8.jpe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image" Target="../media/image7.png"/><Relationship Id="rId10" Type="http://schemas.openxmlformats.org/officeDocument/2006/relationships/tags" Target="../tags/tag17.xml"/><Relationship Id="rId19" Type="http://schemas.openxmlformats.org/officeDocument/2006/relationships/image" Target="../media/image3.png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2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slideMaster" Target="../slideMasters/slideMaster2.xml"/><Relationship Id="rId18" Type="http://schemas.openxmlformats.org/officeDocument/2006/relationships/image" Target="../media/image9.png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image" Target="../media/image8.jpeg"/><Relationship Id="rId2" Type="http://schemas.openxmlformats.org/officeDocument/2006/relationships/tags" Target="../tags/tag26.xml"/><Relationship Id="rId16" Type="http://schemas.openxmlformats.org/officeDocument/2006/relationships/image" Target="../media/image7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image" Target="../media/image6.png"/><Relationship Id="rId10" Type="http://schemas.openxmlformats.org/officeDocument/2006/relationships/tags" Target="../tags/tag34.xml"/><Relationship Id="rId19" Type="http://schemas.openxmlformats.org/officeDocument/2006/relationships/image" Target="../media/image10.pn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image" Target="../media/image5.jpe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11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11.png"/><Relationship Id="rId5" Type="http://schemas.openxmlformats.org/officeDocument/2006/relationships/tags" Target="../tags/tag4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12.jpe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9" Type="http://schemas.openxmlformats.org/officeDocument/2006/relationships/image" Target="../media/image11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6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11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slideMaster" Target="../slideMasters/slideMaster2.xml"/><Relationship Id="rId18" Type="http://schemas.openxmlformats.org/officeDocument/2006/relationships/image" Target="../media/image9.png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image" Target="../media/image8.jpeg"/><Relationship Id="rId2" Type="http://schemas.openxmlformats.org/officeDocument/2006/relationships/tags" Target="../tags/tag79.xml"/><Relationship Id="rId16" Type="http://schemas.openxmlformats.org/officeDocument/2006/relationships/image" Target="../media/image7.png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5" Type="http://schemas.openxmlformats.org/officeDocument/2006/relationships/image" Target="../media/image6.png"/><Relationship Id="rId10" Type="http://schemas.openxmlformats.org/officeDocument/2006/relationships/tags" Target="../tags/tag87.xml"/><Relationship Id="rId19" Type="http://schemas.openxmlformats.org/officeDocument/2006/relationships/image" Target="../media/image10.png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image" Target="../media/image5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7" Type="http://schemas.openxmlformats.org/officeDocument/2006/relationships/image" Target="../media/image11.pn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4.xml"/><Relationship Id="rId4" Type="http://schemas.openxmlformats.org/officeDocument/2006/relationships/tags" Target="../tags/tag9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9" Type="http://schemas.openxmlformats.org/officeDocument/2006/relationships/image" Target="../media/image13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10" Type="http://schemas.openxmlformats.org/officeDocument/2006/relationships/image" Target="../media/image14.png"/><Relationship Id="rId4" Type="http://schemas.openxmlformats.org/officeDocument/2006/relationships/tags" Target="../tags/tag105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10" Type="http://schemas.openxmlformats.org/officeDocument/2006/relationships/image" Target="../media/image15.png"/><Relationship Id="rId4" Type="http://schemas.openxmlformats.org/officeDocument/2006/relationships/tags" Target="../tags/tag113.xml"/><Relationship Id="rId9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10" Type="http://schemas.openxmlformats.org/officeDocument/2006/relationships/image" Target="../media/image15.png"/><Relationship Id="rId4" Type="http://schemas.openxmlformats.org/officeDocument/2006/relationships/tags" Target="../tags/tag121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image" Target="../media/image15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30.xml"/><Relationship Id="rId10" Type="http://schemas.openxmlformats.org/officeDocument/2006/relationships/tags" Target="../tags/tag135.xml"/><Relationship Id="rId4" Type="http://schemas.openxmlformats.org/officeDocument/2006/relationships/tags" Target="../tags/tag129.xml"/><Relationship Id="rId9" Type="http://schemas.openxmlformats.org/officeDocument/2006/relationships/tags" Target="../tags/tag134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10" Type="http://schemas.openxmlformats.org/officeDocument/2006/relationships/image" Target="../media/image16.png"/><Relationship Id="rId4" Type="http://schemas.openxmlformats.org/officeDocument/2006/relationships/tags" Target="../tags/tag139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653020" y="5936615"/>
            <a:ext cx="4289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创艺简魏碑" charset="0"/>
                <a:ea typeface="创艺简魏碑" charset="0"/>
              </a:rPr>
              <a:t>杭州电子科技大学电工电子实验中心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902575" y="6155690"/>
            <a:ext cx="4289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创艺简魏碑" charset="0"/>
                <a:ea typeface="创艺简魏碑" charset="0"/>
              </a:rPr>
              <a:t>杭州电子科技大学电工电子实验中心</a:t>
            </a:r>
          </a:p>
        </p:txBody>
      </p:sp>
      <p:pic>
        <p:nvPicPr>
          <p:cNvPr id="4" name="图片 3" descr="logo"/>
          <p:cNvPicPr>
            <a:picLocks noChangeAspect="1"/>
          </p:cNvPicPr>
          <p:nvPr userDrawn="1"/>
        </p:nvPicPr>
        <p:blipFill>
          <a:blip r:embed="rId3"/>
          <a:srcRect r="76284"/>
          <a:stretch>
            <a:fillRect/>
          </a:stretch>
        </p:blipFill>
        <p:spPr>
          <a:xfrm>
            <a:off x="7245350" y="5969000"/>
            <a:ext cx="786130" cy="7715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7FE9-2880-4935-A568-4EA9F4CF99E3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F28D-5CAD-4D9A-BEE5-6FCCE84B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7FE9-2880-4935-A568-4EA9F4CF99E3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F28D-5CAD-4D9A-BEE5-6FCCE84B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7FE9-2880-4935-A568-4EA9F4CF99E3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F28D-5CAD-4D9A-BEE5-6FCCE84B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7FE9-2880-4935-A568-4EA9F4CF99E3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F28D-5CAD-4D9A-BEE5-6FCCE84B9B9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38200" y="5988050"/>
            <a:ext cx="4253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杭州电子科技大学电工电子实验中心</a:t>
            </a: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"/>
          <a:srcRect r="75670"/>
          <a:stretch>
            <a:fillRect/>
          </a:stretch>
        </p:blipFill>
        <p:spPr>
          <a:xfrm>
            <a:off x="100330" y="5671185"/>
            <a:ext cx="806450" cy="7715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0" y="6175375"/>
            <a:ext cx="4289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创艺简魏碑" charset="0"/>
                <a:ea typeface="创艺简魏碑" charset="0"/>
              </a:rPr>
              <a:t>杭州电子科技大学电工电子实验中心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7FE9-2880-4935-A568-4EA9F4CF99E3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F28D-5CAD-4D9A-BEE5-6FCCE84B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7FE9-2880-4935-A568-4EA9F4CF99E3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F28D-5CAD-4D9A-BEE5-6FCCE84B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7FE9-2880-4935-A568-4EA9F4CF99E3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F28D-5CAD-4D9A-BEE5-6FCCE84B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7FE9-2880-4935-A568-4EA9F4CF99E3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3F28D-5CAD-4D9A-BEE5-6FCCE84B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14"/>
          <a:srcRect/>
          <a:stretch>
            <a:fillRect/>
          </a:stretch>
        </p:blipFill>
        <p:spPr>
          <a:xfrm flipH="1">
            <a:off x="7353300" y="4429760"/>
            <a:ext cx="4080510" cy="26930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 flipH="1">
            <a:off x="7293610" y="-264160"/>
            <a:ext cx="4080510" cy="42976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16"/>
          <a:srcRect/>
          <a:stretch>
            <a:fillRect/>
          </a:stretch>
        </p:blipFill>
        <p:spPr>
          <a:xfrm rot="5400000" flipV="1">
            <a:off x="4749165" y="-1497330"/>
            <a:ext cx="2437765" cy="9753600"/>
          </a:xfrm>
          <a:prstGeom prst="rect">
            <a:avLst/>
          </a:prstGeom>
          <a:ln>
            <a:noFill/>
          </a:ln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 rot="10800000" flipH="1">
            <a:off x="824865" y="2160905"/>
            <a:ext cx="370205" cy="24377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18"/>
          <a:srcRect/>
          <a:stretch>
            <a:fillRect/>
          </a:stretch>
        </p:blipFill>
        <p:spPr>
          <a:xfrm rot="5400000" flipH="1">
            <a:off x="5057775" y="156210"/>
            <a:ext cx="1821815" cy="97536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657349" y="2300014"/>
            <a:ext cx="8622874" cy="1268687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7200" spc="600" baseline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1657349" y="3705860"/>
            <a:ext cx="8622874" cy="672058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bg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33995" y="6096000"/>
            <a:ext cx="4253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杭州电子科技大学电工电子实验中心</a:t>
            </a:r>
          </a:p>
        </p:txBody>
      </p:sp>
      <p:pic>
        <p:nvPicPr>
          <p:cNvPr id="5" name="图片 4" descr="logo"/>
          <p:cNvPicPr>
            <a:picLocks noChangeAspect="1"/>
          </p:cNvPicPr>
          <p:nvPr userDrawn="1"/>
        </p:nvPicPr>
        <p:blipFill>
          <a:blip r:embed="rId19"/>
          <a:srcRect r="75670"/>
          <a:stretch>
            <a:fillRect/>
          </a:stretch>
        </p:blipFill>
        <p:spPr>
          <a:xfrm>
            <a:off x="7027545" y="5810250"/>
            <a:ext cx="806450" cy="7715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669925" y="5972810"/>
            <a:ext cx="4253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杭州电子科技大学电工电子实验中心</a:t>
            </a:r>
          </a:p>
        </p:txBody>
      </p:sp>
      <p:pic>
        <p:nvPicPr>
          <p:cNvPr id="9" name="图片 8" descr="logo"/>
          <p:cNvPicPr>
            <a:picLocks noChangeAspect="1"/>
          </p:cNvPicPr>
          <p:nvPr userDrawn="1"/>
        </p:nvPicPr>
        <p:blipFill>
          <a:blip r:embed="rId9"/>
          <a:srcRect r="75670"/>
          <a:stretch>
            <a:fillRect/>
          </a:stretch>
        </p:blipFill>
        <p:spPr>
          <a:xfrm>
            <a:off x="0" y="5700395"/>
            <a:ext cx="806450" cy="7715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1"/>
            </p:custDataLst>
          </p:nvPr>
        </p:nvGrpSpPr>
        <p:grpSpPr>
          <a:xfrm>
            <a:off x="0" y="-264386"/>
            <a:ext cx="12192000" cy="7386772"/>
            <a:chOff x="0" y="-264386"/>
            <a:chExt cx="12192000" cy="7386772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/>
          </p:nvGrpSpPr>
          <p:grpSpPr>
            <a:xfrm>
              <a:off x="824778" y="-264386"/>
              <a:ext cx="10609120" cy="7386772"/>
              <a:chOff x="824778" y="-264386"/>
              <a:chExt cx="10609120" cy="7386772"/>
            </a:xfrm>
          </p:grpSpPr>
          <p:pic>
            <p:nvPicPr>
              <p:cNvPr id="10" name="图片 9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 flipH="1">
                <a:off x="7353080" y="4429584"/>
                <a:ext cx="4080818" cy="2692802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 rotWithShape="1">
              <a:blip r:embed="rId16"/>
              <a:srcRect/>
              <a:stretch>
                <a:fillRect/>
              </a:stretch>
            </p:blipFill>
            <p:spPr>
              <a:xfrm flipH="1">
                <a:off x="7293793" y="-264386"/>
                <a:ext cx="4080818" cy="4297453"/>
              </a:xfrm>
              <a:prstGeom prst="rect">
                <a:avLst/>
              </a:prstGeom>
            </p:spPr>
          </p:pic>
          <p:pic>
            <p:nvPicPr>
              <p:cNvPr id="12" name="图片 11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 rotWithShape="1">
              <a:blip r:embed="rId17"/>
              <a:srcRect/>
              <a:stretch>
                <a:fillRect/>
              </a:stretch>
            </p:blipFill>
            <p:spPr>
              <a:xfrm rot="5400000" flipV="1">
                <a:off x="4749792" y="-1497492"/>
                <a:ext cx="2437988" cy="9753603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3" name="图片 12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 rotWithShape="1">
              <a:blip r:embed="rId18"/>
              <a:srcRect/>
              <a:stretch>
                <a:fillRect/>
              </a:stretch>
            </p:blipFill>
            <p:spPr>
              <a:xfrm rot="10800000" flipH="1">
                <a:off x="824778" y="2160314"/>
                <a:ext cx="370223" cy="2437988"/>
              </a:xfrm>
              <a:prstGeom prst="rect">
                <a:avLst/>
              </a:prstGeom>
            </p:spPr>
          </p:pic>
          <p:pic>
            <p:nvPicPr>
              <p:cNvPr id="14" name="图片 13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 rotWithShape="1">
              <a:blip r:embed="rId19"/>
              <a:srcRect/>
              <a:stretch>
                <a:fillRect/>
              </a:stretch>
            </p:blipFill>
            <p:spPr>
              <a:xfrm rot="5400000" flipH="1">
                <a:off x="5057981" y="155972"/>
                <a:ext cx="1821611" cy="9753602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351923" y="3137598"/>
            <a:ext cx="5336744" cy="608619"/>
          </a:xfrm>
        </p:spPr>
        <p:txBody>
          <a:bodyPr lIns="90000" tIns="46800" rIns="90000" bIns="0" anchor="t" anchorCtr="0">
            <a:normAutofit/>
          </a:bodyPr>
          <a:lstStyle>
            <a:lvl1pPr algn="ctr">
              <a:defRPr sz="3600" u="none" strike="noStrike" kern="1200" cap="none" spc="300" normalizeH="0" baseline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351923" y="3776697"/>
            <a:ext cx="5336739" cy="779163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400" b="0" i="0" u="none" strike="noStrike" kern="1200" cap="none" spc="150" normalizeH="0" baseline="0" noProof="1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cap="none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cap="none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cap="none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  <a:t>2025/4/12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0" y="-264386"/>
            <a:ext cx="12192000" cy="7386772"/>
            <a:chOff x="0" y="-264386"/>
            <a:chExt cx="12192000" cy="7386772"/>
          </a:xfrm>
        </p:grpSpPr>
        <p:grpSp>
          <p:nvGrpSpPr>
            <p:cNvPr id="7" name="组合 6"/>
            <p:cNvGrpSpPr/>
            <p:nvPr/>
          </p:nvGrpSpPr>
          <p:grpSpPr>
            <a:xfrm>
              <a:off x="0" y="-264386"/>
              <a:ext cx="12192000" cy="7386772"/>
              <a:chOff x="0" y="-264386"/>
              <a:chExt cx="12192000" cy="7386772"/>
            </a:xfrm>
          </p:grpSpPr>
          <p:pic>
            <p:nvPicPr>
              <p:cNvPr id="9" name="图片 8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pic>
            <p:nvPicPr>
              <p:cNvPr id="10" name="图片 9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 flipH="1">
                <a:off x="7353080" y="4429584"/>
                <a:ext cx="4080818" cy="2692802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 rotWithShape="1">
              <a:blip r:embed="rId16"/>
              <a:srcRect/>
              <a:stretch>
                <a:fillRect/>
              </a:stretch>
            </p:blipFill>
            <p:spPr>
              <a:xfrm flipH="1">
                <a:off x="7293793" y="-264386"/>
                <a:ext cx="4080818" cy="4297453"/>
              </a:xfrm>
              <a:prstGeom prst="rect">
                <a:avLst/>
              </a:prstGeom>
            </p:spPr>
          </p:pic>
          <p:pic>
            <p:nvPicPr>
              <p:cNvPr id="12" name="图片 11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 rotWithShape="1">
              <a:blip r:embed="rId17"/>
              <a:srcRect/>
              <a:stretch>
                <a:fillRect/>
              </a:stretch>
            </p:blipFill>
            <p:spPr>
              <a:xfrm rot="5400000" flipV="1">
                <a:off x="4749792" y="-1497492"/>
                <a:ext cx="2437988" cy="9753603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3" name="图片 12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 rotWithShape="1">
              <a:blip r:embed="rId18"/>
              <a:srcRect/>
              <a:stretch>
                <a:fillRect/>
              </a:stretch>
            </p:blipFill>
            <p:spPr>
              <a:xfrm rot="10800000" flipH="1">
                <a:off x="824778" y="2160314"/>
                <a:ext cx="370223" cy="243798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 rotWithShape="1">
            <a:blip r:embed="rId19"/>
            <a:srcRect/>
            <a:stretch>
              <a:fillRect/>
            </a:stretch>
          </p:blipFill>
          <p:spPr>
            <a:xfrm rot="5400000" flipH="1">
              <a:off x="5057981" y="155972"/>
              <a:ext cx="1821611" cy="9753602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3392805" y="3705225"/>
            <a:ext cx="5210810" cy="709295"/>
          </a:xfrm>
        </p:spPr>
        <p:txBody>
          <a:bodyPr lIns="90000" tIns="0" rIns="90000" bIns="4680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392805" y="2300605"/>
            <a:ext cx="5210810" cy="1365250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rot="836205" flipH="1">
            <a:off x="10251364" y="4471103"/>
            <a:ext cx="2118472" cy="22309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rot="20763795">
            <a:off x="-260082" y="4434168"/>
            <a:ext cx="2702594" cy="284606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rot="20763795" flipH="1" flipV="1">
            <a:off x="-415194" y="-74230"/>
            <a:ext cx="1624616" cy="17108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rot="836205" flipH="1">
            <a:off x="10783292" y="5287263"/>
            <a:ext cx="1624616" cy="17108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 rot="836205" flipH="1">
            <a:off x="10545465" y="-218123"/>
            <a:ext cx="1624616" cy="17108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rot="836205" flipH="1">
            <a:off x="9173210" y="3364865"/>
            <a:ext cx="3520440" cy="37077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rot="20560076" flipV="1">
            <a:off x="-751840" y="-285115"/>
            <a:ext cx="3520440" cy="37077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E7FE9-2880-4935-A568-4EA9F4CF99E3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3F28D-5CAD-4D9A-BEE5-6FCCE84B9B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4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8.wmf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7" Type="http://schemas.openxmlformats.org/officeDocument/2006/relationships/image" Target="../media/image26.png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5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7" Type="http://schemas.openxmlformats.org/officeDocument/2006/relationships/image" Target="../media/image28.jpeg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image" Target="../media/image27.jpeg"/><Relationship Id="rId5" Type="http://schemas.openxmlformats.org/officeDocument/2006/relationships/image" Target="../media/image25.png"/><Relationship Id="rId4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image" Target="../media/image29.png"/><Relationship Id="rId5" Type="http://schemas.openxmlformats.org/officeDocument/2006/relationships/image" Target="../media/image25.png"/><Relationship Id="rId4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7" Type="http://schemas.openxmlformats.org/officeDocument/2006/relationships/image" Target="../media/image30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6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7" Type="http://schemas.openxmlformats.org/officeDocument/2006/relationships/image" Target="../media/image31.png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7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tags" Target="../tags/tag185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6" Type="http://schemas.openxmlformats.org/officeDocument/2006/relationships/image" Target="../media/image25.png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5" Type="http://schemas.openxmlformats.org/officeDocument/2006/relationships/slideLayout" Target="../slideLayouts/slideLayout18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Relationship Id="rId14" Type="http://schemas.openxmlformats.org/officeDocument/2006/relationships/tags" Target="../tags/tag18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tags" Target="../tags/tag189.xml"/><Relationship Id="rId7" Type="http://schemas.openxmlformats.org/officeDocument/2006/relationships/image" Target="../media/image32.png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91.xml"/><Relationship Id="rId10" Type="http://schemas.openxmlformats.org/officeDocument/2006/relationships/image" Target="../media/image35.png"/><Relationship Id="rId4" Type="http://schemas.openxmlformats.org/officeDocument/2006/relationships/tags" Target="../tags/tag190.xml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194.xml"/><Relationship Id="rId7" Type="http://schemas.openxmlformats.org/officeDocument/2006/relationships/slideLayout" Target="../slideLayouts/slideLayout1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tags" Target="../tags/tag200.xml"/><Relationship Id="rId7" Type="http://schemas.openxmlformats.org/officeDocument/2006/relationships/image" Target="../media/image32.png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搜索【幻雨工作室】_2" descr="7b0a20202020227461726765744d6f64756c65223a202270726f636573734f6e6c696e65466f6e7473220a7d0a"/>
          <p:cNvSpPr txBox="1"/>
          <p:nvPr>
            <p:custDataLst>
              <p:tags r:id="rId2"/>
            </p:custDataLst>
          </p:nvPr>
        </p:nvSpPr>
        <p:spPr>
          <a:xfrm>
            <a:off x="1657181" y="2210983"/>
            <a:ext cx="9089634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000">
                <a:gradFill>
                  <a:gsLst>
                    <a:gs pos="50000">
                      <a:srgbClr val="F5E3C9"/>
                    </a:gs>
                    <a:gs pos="0">
                      <a:srgbClr val="D9A96A"/>
                    </a:gs>
                    <a:gs pos="100000">
                      <a:srgbClr val="F4DEBE"/>
                    </a:gs>
                  </a:gsLst>
                  <a:lin ang="5400000" scaled="1"/>
                </a:gradFill>
                <a:latin typeface="禹卫书法行书简体" panose="02000603000000000000" pitchFamily="2" charset="-122"/>
                <a:ea typeface="禹卫书法行书简体" panose="02000603000000000000" pitchFamily="2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创艺简魏碑" charset="0"/>
                <a:ea typeface="创艺简魏碑" charset="0"/>
                <a:cs typeface="创艺简魏碑" charset="0"/>
                <a:sym typeface="汉仪黑方简" panose="00020600040101010101" charset="-122"/>
              </a:rPr>
              <a:t>远程实境实验平台的应用</a:t>
            </a:r>
          </a:p>
          <a:p>
            <a:pPr algn="l"/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创艺简魏碑" charset="0"/>
                <a:ea typeface="创艺简魏碑" charset="0"/>
                <a:cs typeface="创艺简魏碑" charset="0"/>
                <a:sym typeface="汉仪黑方简" panose="00020600040101010101" charset="-122"/>
              </a:rPr>
              <a:t>-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创艺简魏碑" charset="0"/>
                <a:ea typeface="创艺简魏碑" charset="0"/>
                <a:cs typeface="创艺简魏碑" charset="0"/>
                <a:sym typeface="汉仪黑方简" panose="00020600040101010101" charset="-122"/>
              </a:rPr>
              <a:t>以数据选择器设计为例</a:t>
            </a:r>
          </a:p>
        </p:txBody>
      </p:sp>
      <p:sp>
        <p:nvSpPr>
          <p:cNvPr id="5" name="标题 4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956945" y="951865"/>
            <a:ext cx="2962910" cy="720725"/>
          </a:xfrm>
        </p:spPr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>
                <a:solidFill>
                  <a:schemeClr val="dk1">
                    <a:lumMod val="85000"/>
                    <a:lumOff val="15000"/>
                  </a:schemeClr>
                </a:solidFill>
              </a:rPr>
              <a:t>实验三：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8473440" y="3705860"/>
            <a:ext cx="1806575" cy="671830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 sz="2800">
                <a:solidFill>
                  <a:schemeClr val="dk1">
                    <a:lumMod val="85000"/>
                    <a:lumOff val="15000"/>
                  </a:schemeClr>
                </a:solidFill>
              </a:rPr>
              <a:t>牛小燕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22" name="稻壳儿搜索【幻雨工作室】_14"/>
          <p:cNvSpPr txBox="1"/>
          <p:nvPr/>
        </p:nvSpPr>
        <p:spPr>
          <a:xfrm>
            <a:off x="589928" y="598328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一、实验目的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89915" y="1644650"/>
            <a:ext cx="1045083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了解数据选择器的电路结构和特点</a:t>
            </a:r>
            <a:endParaRPr lang="zh-CN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( 2)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掌握应用数据选择器设计组合逻辑电路的方法。</a:t>
            </a:r>
            <a:endParaRPr lang="zh-CN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）掌握使用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QuartusII</a:t>
            </a:r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软件设计、仿真电路，</a:t>
            </a:r>
            <a:r>
              <a:rPr lang="zh-CN" altLang="zh-CN" sz="32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硬件下载</a:t>
            </a:r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测试电路的方法。</a:t>
            </a:r>
            <a:endParaRPr lang="zh-CN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）掌握</a:t>
            </a:r>
            <a:r>
              <a:rPr lang="zh-CN" altLang="zh-CN" sz="32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远程实境实验平台</a:t>
            </a:r>
            <a:r>
              <a:rPr lang="zh-CN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的使用方法。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22" name="稻壳儿搜索【幻雨工作室】_14"/>
          <p:cNvSpPr txBox="1"/>
          <p:nvPr/>
        </p:nvSpPr>
        <p:spPr>
          <a:xfrm>
            <a:off x="269253" y="344963"/>
            <a:ext cx="4297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二、实验内容与要求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91515" y="1248410"/>
            <a:ext cx="10491470" cy="4326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以下实验内容</a:t>
            </a:r>
            <a:r>
              <a:rPr altLang="zh-CN" sz="2400" dirty="0">
                <a:solidFill>
                  <a:srgbClr val="180BC7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3选2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，基于QuartusII完成电路的设计、仿真，</a:t>
            </a:r>
            <a:r>
              <a:rPr altLang="zh-CN" sz="2400" dirty="0">
                <a:solidFill>
                  <a:srgbClr val="180BC7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基于远程实验平台完成硬件下载和测试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，提交电路原理图、仿真波形图以及下载界面截图。</a:t>
            </a:r>
          </a:p>
          <a:p>
            <a:endParaRPr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 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用74LS153实现</a:t>
            </a:r>
            <a:r>
              <a:rPr altLang="zh-CN" sz="2400" dirty="0">
                <a:solidFill>
                  <a:srgbClr val="180BC7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一位全加器</a:t>
            </a:r>
            <a:r>
              <a:rPr 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 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数据选择器实现组合逻辑函数，该电路有3个输入逻辑变量A、B、C和1个工作状态控制变量M，当M＝0时电路实现“意见一致”功能（A、B、C状态一致输出为1,否则输出为0），而M＝1时电路实现“多数表决”功能，即输出与A、B、C中多数的状态一致。</a:t>
            </a:r>
          </a:p>
          <a:p>
            <a:endParaRPr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 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用八选一的数据选择器74151，设计电路判断一位余3码是否大于5。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/>
          </p:cNvSpPr>
          <p:nvPr>
            <p:ph type="title"/>
          </p:nvPr>
        </p:nvSpPr>
        <p:spPr>
          <a:xfrm>
            <a:off x="669882" y="1113159"/>
            <a:ext cx="10852237" cy="441964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eaLnBrk="1" hangingPunct="1"/>
            <a:r>
              <a:rPr lang="en-US" altLang="zh-CN" sz="2400" dirty="0"/>
              <a:t>74LS153</a:t>
            </a:r>
            <a:r>
              <a:rPr lang="zh-CN" altLang="en-US" sz="2400" dirty="0"/>
              <a:t>的功能表和表达式</a:t>
            </a:r>
            <a:r>
              <a:rPr lang="zh-CN" altLang="en-US" dirty="0"/>
              <a:t> </a:t>
            </a:r>
          </a:p>
        </p:txBody>
      </p:sp>
      <p:sp>
        <p:nvSpPr>
          <p:cNvPr id="18434" name="Rectangle 3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8436" name="Rectangle 5"/>
          <p:cNvSpPr/>
          <p:nvPr/>
        </p:nvSpPr>
        <p:spPr>
          <a:xfrm>
            <a:off x="1524000" y="311626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graphicFrame>
        <p:nvGraphicFramePr>
          <p:cNvPr id="18437" name="Object 6"/>
          <p:cNvGraphicFramePr>
            <a:graphicFrameLocks noChangeAspect="1"/>
          </p:cNvGraphicFramePr>
          <p:nvPr/>
        </p:nvGraphicFramePr>
        <p:xfrm>
          <a:off x="3907790" y="4872355"/>
          <a:ext cx="5286375" cy="408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27400" imgH="254000" progId="Equation.3">
                  <p:embed/>
                </p:oleObj>
              </mc:Choice>
              <mc:Fallback>
                <p:oleObj r:id="rId4" imgW="3327400" imgH="254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07790" y="4872355"/>
                        <a:ext cx="5286375" cy="408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4173855" y="1813560"/>
          <a:ext cx="3265805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39595" imgH="2141855" progId="Visio.Drawing.11">
                  <p:embed/>
                </p:oleObj>
              </mc:Choice>
              <mc:Fallback>
                <p:oleObj r:id="rId6" imgW="1839595" imgH="2141855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73855" y="1813560"/>
                        <a:ext cx="3265805" cy="28003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8"/>
          <p:cNvSpPr/>
          <p:nvPr/>
        </p:nvSpPr>
        <p:spPr>
          <a:xfrm>
            <a:off x="8442960" y="2750185"/>
            <a:ext cx="3378835" cy="14928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noAutofit/>
          </a:bodyPr>
          <a:lstStyle/>
          <a:p>
            <a:pPr eaLnBrk="0" hangingPunct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 用数据选择器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74LS153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可实现组合逻辑函数设计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 。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653415" y="1781175"/>
          <a:ext cx="2102485" cy="2461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005965" imgH="2352675" progId="Visio.Drawing.11">
                  <p:embed/>
                </p:oleObj>
              </mc:Choice>
              <mc:Fallback>
                <p:oleObj r:id="rId8" imgW="2005965" imgH="2352675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3415" y="1781175"/>
                        <a:ext cx="2102485" cy="2461895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9003" y="353123"/>
            <a:ext cx="5336744" cy="608619"/>
          </a:xfrm>
          <a:prstGeom prst="rect">
            <a:avLst/>
          </a:prstGeom>
        </p:spPr>
        <p:txBody>
          <a:bodyPr vert="horz" lIns="90000" tIns="46800" rIns="90000" bIns="0" rtlCol="0" anchor="t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dirty="0">
                <a:solidFill>
                  <a:schemeClr val="accent1">
                    <a:lumMod val="25000"/>
                  </a:schemeClr>
                </a:solidFill>
                <a:sym typeface="Calibri" panose="020F0502020204030204" pitchFamily="34" charset="0"/>
              </a:rPr>
              <a:t>三、实验原理</a:t>
            </a:r>
          </a:p>
        </p:txBody>
      </p:sp>
      <p:sp>
        <p:nvSpPr>
          <p:cNvPr id="2" name="右箭头 1"/>
          <p:cNvSpPr/>
          <p:nvPr/>
        </p:nvSpPr>
        <p:spPr>
          <a:xfrm>
            <a:off x="3335020" y="3116580"/>
            <a:ext cx="438785" cy="38862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右箭头 3"/>
          <p:cNvSpPr/>
          <p:nvPr/>
        </p:nvSpPr>
        <p:spPr>
          <a:xfrm>
            <a:off x="7839710" y="3116580"/>
            <a:ext cx="438785" cy="38862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l" eaLnBrk="1" hangingPunct="1"/>
            <a:r>
              <a:rPr lang="en-US" altLang="zh-CN" dirty="0"/>
              <a:t>74151</a:t>
            </a:r>
            <a:r>
              <a:rPr lang="zh-CN" altLang="en-US" dirty="0"/>
              <a:t>管脚图</a:t>
            </a:r>
          </a:p>
        </p:txBody>
      </p:sp>
      <p:sp>
        <p:nvSpPr>
          <p:cNvPr id="19459" name="Rectangle 4"/>
          <p:cNvSpPr/>
          <p:nvPr/>
        </p:nvSpPr>
        <p:spPr>
          <a:xfrm>
            <a:off x="1524000" y="108426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9461" name="Rectangle 6"/>
          <p:cNvSpPr/>
          <p:nvPr/>
        </p:nvSpPr>
        <p:spPr>
          <a:xfrm>
            <a:off x="1524000" y="2763521"/>
            <a:ext cx="468630" cy="24511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zh-CN" altLang="en-US" sz="1000" dirty="0">
                <a:latin typeface="Times New Roman" panose="02020603050405020304" pitchFamily="18" charset="0"/>
                <a:ea typeface="宋体" panose="02010600030101010101" pitchFamily="2" charset="-122"/>
                <a:sym typeface="Calibri" panose="020F0502020204030204" pitchFamily="34" charset="0"/>
              </a:rPr>
              <a:t>        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graphicFrame>
        <p:nvGraphicFramePr>
          <p:cNvPr id="19462" name="Object 7"/>
          <p:cNvGraphicFramePr>
            <a:graphicFrameLocks noChangeAspect="1"/>
          </p:cNvGraphicFramePr>
          <p:nvPr/>
        </p:nvGraphicFramePr>
        <p:xfrm>
          <a:off x="8699183" y="1178878"/>
          <a:ext cx="2992437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73655" imgH="2799715" progId="Visio.Drawing.11">
                  <p:embed/>
                </p:oleObj>
              </mc:Choice>
              <mc:Fallback>
                <p:oleObj r:id="rId2" imgW="2573655" imgH="2799715" progId="Visio.Drawing.11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99183" y="1178878"/>
                        <a:ext cx="2992437" cy="4105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9"/>
          <p:cNvSpPr/>
          <p:nvPr/>
        </p:nvSpPr>
        <p:spPr>
          <a:xfrm>
            <a:off x="1524000" y="31305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graphicFrame>
        <p:nvGraphicFramePr>
          <p:cNvPr id="19465" name="Object 10"/>
          <p:cNvGraphicFramePr>
            <a:graphicFrameLocks noChangeAspect="1"/>
          </p:cNvGraphicFramePr>
          <p:nvPr/>
        </p:nvGraphicFramePr>
        <p:xfrm>
          <a:off x="669608" y="1835785"/>
          <a:ext cx="78486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442200" imgH="254000" progId="Equation.3">
                  <p:embed/>
                </p:oleObj>
              </mc:Choice>
              <mc:Fallback>
                <p:oleObj r:id="rId4" imgW="7442200" imgH="2540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9608" y="1835785"/>
                        <a:ext cx="784860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511175" y="254953"/>
            <a:ext cx="7924800" cy="14430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914400" marR="0" lvl="0" indent="-914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0" i="0" u="none" strike="noStrike" kern="1200" cap="none" spc="0" normalizeH="0" baseline="0" noProof="0" dirty="0">
                <a:ln>
                  <a:noFill/>
                </a:ln>
                <a:solidFill>
                  <a:srgbClr val="180BC7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Calibri" panose="020F0502020204030204" pitchFamily="34" charset="0"/>
              </a:rPr>
              <a:t>74LS153</a:t>
            </a:r>
            <a:r>
              <a:rPr kumimoji="0" lang="zh-CN" alt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180BC7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Calibri" panose="020F0502020204030204" pitchFamily="34" charset="0"/>
              </a:rPr>
              <a:t>实现全加器的参考电路</a:t>
            </a:r>
          </a:p>
        </p:txBody>
      </p:sp>
      <p:sp>
        <p:nvSpPr>
          <p:cNvPr id="25602" name="Rectangle 4"/>
          <p:cNvSpPr/>
          <p:nvPr/>
        </p:nvSpPr>
        <p:spPr>
          <a:xfrm>
            <a:off x="6961188" y="1577975"/>
            <a:ext cx="12677775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Rectangle 6"/>
          <p:cNvSpPr/>
          <p:nvPr/>
        </p:nvSpPr>
        <p:spPr>
          <a:xfrm>
            <a:off x="6961188" y="1178719"/>
            <a:ext cx="13125450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604" name="对象 8"/>
          <p:cNvGraphicFramePr>
            <a:graphicFrameLocks noChangeAspect="1"/>
          </p:cNvGraphicFramePr>
          <p:nvPr/>
        </p:nvGraphicFramePr>
        <p:xfrm>
          <a:off x="6961188" y="1339850"/>
          <a:ext cx="346075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62300" imgH="3149600" progId="Visio.Drawing.11">
                  <p:embed/>
                </p:oleObj>
              </mc:Choice>
              <mc:Fallback>
                <p:oleObj r:id="rId2" imgW="3162300" imgH="3149600" progId="Visio.Drawing.11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1188" y="1339850"/>
                        <a:ext cx="3460750" cy="396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5" name="Picture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700" y="1555750"/>
            <a:ext cx="2157413" cy="3130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Picture 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163" y="1698625"/>
            <a:ext cx="2084387" cy="3025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58445" y="4813935"/>
            <a:ext cx="7099935" cy="1383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marL="342900" marR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+mn-ea"/>
              </a:rPr>
              <a:t>        </a:t>
            </a:r>
            <a:r>
              <a:rPr lang="zh-CN" altLang="en-US" sz="2000" b="1" dirty="0">
                <a:sym typeface="+mn-ea"/>
              </a:rPr>
              <a:t>由卡诺图得到数据输入：</a:t>
            </a:r>
            <a:r>
              <a:rPr lang="en-US" altLang="zh-CN" sz="2000" b="1" dirty="0">
                <a:sym typeface="+mn-ea"/>
              </a:rPr>
              <a:t>1D</a:t>
            </a:r>
            <a:r>
              <a:rPr lang="en-US" altLang="zh-CN" sz="2000" b="1" baseline="-25000" dirty="0">
                <a:sym typeface="+mn-ea"/>
              </a:rPr>
              <a:t>0</a:t>
            </a:r>
            <a:r>
              <a:rPr lang="en-US" altLang="zh-CN" sz="2000" b="1" dirty="0">
                <a:sym typeface="+mn-ea"/>
              </a:rPr>
              <a:t>=CI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1D</a:t>
            </a:r>
            <a:r>
              <a:rPr lang="en-US" altLang="zh-CN" sz="2000" b="1" baseline="-25000" dirty="0">
                <a:sym typeface="+mn-ea"/>
              </a:rPr>
              <a:t>1</a:t>
            </a:r>
            <a:r>
              <a:rPr lang="en-US" altLang="zh-CN" sz="2000" b="1" dirty="0">
                <a:sym typeface="+mn-ea"/>
              </a:rPr>
              <a:t>=CI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1D</a:t>
            </a:r>
            <a:r>
              <a:rPr lang="en-US" altLang="zh-CN" sz="2000" b="1" baseline="-25000" dirty="0">
                <a:sym typeface="+mn-ea"/>
              </a:rPr>
              <a:t>2</a:t>
            </a:r>
            <a:r>
              <a:rPr lang="en-US" altLang="zh-CN" sz="2000" b="1" dirty="0">
                <a:sym typeface="+mn-ea"/>
              </a:rPr>
              <a:t>=CI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1D</a:t>
            </a:r>
            <a:r>
              <a:rPr lang="en-US" altLang="zh-CN" sz="2000" b="1" baseline="-25000" dirty="0">
                <a:sym typeface="+mn-ea"/>
              </a:rPr>
              <a:t>3</a:t>
            </a:r>
            <a:r>
              <a:rPr lang="en-US" altLang="zh-CN" sz="2000" b="1" dirty="0">
                <a:sym typeface="+mn-ea"/>
              </a:rPr>
              <a:t>=CI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2D</a:t>
            </a:r>
            <a:r>
              <a:rPr lang="en-US" altLang="zh-CN" sz="2000" b="1" baseline="-25000" dirty="0">
                <a:sym typeface="+mn-ea"/>
              </a:rPr>
              <a:t>0</a:t>
            </a:r>
            <a:r>
              <a:rPr lang="en-US" altLang="zh-CN" sz="2000" b="1" dirty="0">
                <a:sym typeface="+mn-ea"/>
              </a:rPr>
              <a:t>=0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2D</a:t>
            </a:r>
            <a:r>
              <a:rPr lang="en-US" altLang="zh-CN" sz="2000" b="1" baseline="-25000" dirty="0">
                <a:sym typeface="+mn-ea"/>
              </a:rPr>
              <a:t>1</a:t>
            </a:r>
            <a:r>
              <a:rPr lang="en-US" altLang="zh-CN" sz="2000" b="1" dirty="0">
                <a:sym typeface="+mn-ea"/>
              </a:rPr>
              <a:t>=CI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2D</a:t>
            </a:r>
            <a:r>
              <a:rPr lang="en-US" altLang="zh-CN" sz="2000" b="1" baseline="-25000" dirty="0">
                <a:sym typeface="+mn-ea"/>
              </a:rPr>
              <a:t>2</a:t>
            </a:r>
            <a:r>
              <a:rPr lang="en-US" altLang="zh-CN" sz="2000" b="1" dirty="0">
                <a:sym typeface="+mn-ea"/>
              </a:rPr>
              <a:t>=CI</a:t>
            </a:r>
            <a:r>
              <a:rPr lang="zh-CN" altLang="en-US" sz="2000" b="1" dirty="0">
                <a:sym typeface="+mn-ea"/>
              </a:rPr>
              <a:t>，</a:t>
            </a:r>
            <a:r>
              <a:rPr lang="en-US" altLang="zh-CN" sz="2000" b="1" dirty="0">
                <a:sym typeface="+mn-ea"/>
              </a:rPr>
              <a:t>2D</a:t>
            </a:r>
            <a:r>
              <a:rPr lang="en-US" altLang="zh-CN" sz="2000" b="1" baseline="-25000" dirty="0">
                <a:sym typeface="+mn-ea"/>
              </a:rPr>
              <a:t>3</a:t>
            </a:r>
            <a:r>
              <a:rPr lang="en-US" altLang="zh-CN" sz="2000" b="1" dirty="0">
                <a:sym typeface="+mn-ea"/>
              </a:rPr>
              <a:t>=1</a:t>
            </a:r>
            <a:r>
              <a:rPr lang="zh-CN" altLang="en-US" sz="2000" b="1" dirty="0">
                <a:sym typeface="+mn-ea"/>
              </a:rPr>
              <a:t>，由此构成逻辑电路，就能完成一位全加器的逻辑功能。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5365115" y="4949825"/>
            <a:ext cx="202565" cy="101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6444615" y="4981575"/>
            <a:ext cx="202565" cy="101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 rot="4562520">
            <a:off x="9839325" y="5903913"/>
            <a:ext cx="617538" cy="839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43" name="Rectangle 2"/>
          <p:cNvSpPr>
            <a:spLocks noGrp="1"/>
          </p:cNvSpPr>
          <p:nvPr>
            <p:ph type="title"/>
          </p:nvPr>
        </p:nvSpPr>
        <p:spPr>
          <a:xfrm>
            <a:off x="916305" y="122238"/>
            <a:ext cx="8229600" cy="1143000"/>
          </a:xfrm>
        </p:spPr>
        <p:txBody>
          <a:bodyPr wrap="square" lIns="91440" tIns="45720" rIns="91440" bIns="45720" anchor="ctr" anchorCtr="0"/>
          <a:lstStyle/>
          <a:p>
            <a:pPr marL="914400" indent="-914400" algn="l" defTabSz="914400" eaLnBrk="0" fontAlgn="base" hangingPunct="0">
              <a:spcAft>
                <a:spcPct val="0"/>
              </a:spcAft>
            </a:pPr>
            <a:r>
              <a:rPr lang="en-US" altLang="zh-CN" sz="4400" dirty="0">
                <a:solidFill>
                  <a:srgbClr val="B28600"/>
                </a:solidFill>
                <a:latin typeface="汉仪旗黑-85S" charset="0"/>
                <a:sym typeface="微软雅黑" panose="020B0503020204020204" pitchFamily="34" charset="-122"/>
              </a:rPr>
              <a:t>3、实验原理</a:t>
            </a:r>
          </a:p>
        </p:txBody>
      </p:sp>
      <p:sp>
        <p:nvSpPr>
          <p:cNvPr id="87044" name="内容占位符 1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1917700" y="1628775"/>
            <a:ext cx="8229600" cy="4525963"/>
          </a:xfrm>
        </p:spPr>
        <p:txBody>
          <a:bodyPr lIns="101600" tIns="0" rIns="82550" bIns="0" anchor="t" anchorCtr="0"/>
          <a:lstStyle/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3.1可编程逻辑器件（PLD）</a:t>
            </a:r>
          </a:p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320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320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8548" name="PA-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rcRect b="17143"/>
          <a:stretch>
            <a:fillRect/>
          </a:stretch>
        </p:blipFill>
        <p:spPr>
          <a:xfrm>
            <a:off x="3141663" y="2563813"/>
            <a:ext cx="5495925" cy="22098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 rot="4562520">
            <a:off x="9839325" y="5903913"/>
            <a:ext cx="617538" cy="839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67" name="Rectangle 2"/>
          <p:cNvSpPr>
            <a:spLocks noGrp="1"/>
          </p:cNvSpPr>
          <p:nvPr>
            <p:ph type="title"/>
          </p:nvPr>
        </p:nvSpPr>
        <p:spPr>
          <a:xfrm>
            <a:off x="672465" y="133033"/>
            <a:ext cx="8229600" cy="1143000"/>
          </a:xfrm>
        </p:spPr>
        <p:txBody>
          <a:bodyPr wrap="square" lIns="91440" tIns="45720" rIns="91440" bIns="45720" anchor="ctr" anchorCtr="0"/>
          <a:lstStyle/>
          <a:p>
            <a:pPr marL="914400" indent="-914400" algn="l" defTabSz="914400" eaLnBrk="0" fontAlgn="base" hangingPunct="0">
              <a:spcAft>
                <a:spcPct val="0"/>
              </a:spcAft>
            </a:pPr>
            <a:r>
              <a:rPr lang="en-US" altLang="zh-CN" sz="4400" dirty="0">
                <a:solidFill>
                  <a:srgbClr val="B28600"/>
                </a:solidFill>
                <a:latin typeface="汉仪旗黑-85S" charset="0"/>
                <a:sym typeface="微软雅黑" panose="020B0503020204020204" pitchFamily="34" charset="-122"/>
              </a:rPr>
              <a:t>3、实验原理</a:t>
            </a:r>
          </a:p>
        </p:txBody>
      </p:sp>
      <p:sp>
        <p:nvSpPr>
          <p:cNvPr id="88068" name="内容占位符 1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1917700" y="1628775"/>
            <a:ext cx="8229600" cy="4525963"/>
          </a:xfrm>
        </p:spPr>
        <p:txBody>
          <a:bodyPr lIns="101600" tIns="0" rIns="82550" bIns="0" anchor="t" anchorCtr="0"/>
          <a:lstStyle/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3.1可编程逻辑器件（PLD）</a:t>
            </a:r>
          </a:p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320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320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88069" name="图片 99"/>
          <p:cNvPicPr/>
          <p:nvPr/>
        </p:nvPicPr>
        <p:blipFill>
          <a:blip r:embed="rId6"/>
          <a:stretch>
            <a:fillRect/>
          </a:stretch>
        </p:blipFill>
        <p:spPr>
          <a:xfrm>
            <a:off x="1774825" y="2419350"/>
            <a:ext cx="3473450" cy="2647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70" name="图片 100"/>
          <p:cNvPicPr/>
          <p:nvPr/>
        </p:nvPicPr>
        <p:blipFill>
          <a:blip r:embed="rId7"/>
          <a:srcRect l="37035" t="27345" r="16518" b="28516"/>
          <a:stretch>
            <a:fillRect/>
          </a:stretch>
        </p:blipFill>
        <p:spPr>
          <a:xfrm>
            <a:off x="6169025" y="2781300"/>
            <a:ext cx="2913063" cy="26066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 rot="4562520">
            <a:off x="9839325" y="5903913"/>
            <a:ext cx="617538" cy="839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9091" name="Rectangle 2"/>
          <p:cNvSpPr>
            <a:spLocks noGrp="1"/>
          </p:cNvSpPr>
          <p:nvPr>
            <p:ph type="title"/>
          </p:nvPr>
        </p:nvSpPr>
        <p:spPr>
          <a:xfrm>
            <a:off x="621665" y="203518"/>
            <a:ext cx="8229600" cy="1143000"/>
          </a:xfrm>
        </p:spPr>
        <p:txBody>
          <a:bodyPr wrap="square" lIns="91440" tIns="45720" rIns="91440" bIns="45720" anchor="ctr" anchorCtr="0"/>
          <a:lstStyle/>
          <a:p>
            <a:pPr marL="914400" indent="-914400" algn="l" defTabSz="914400" eaLnBrk="0" fontAlgn="base" hangingPunct="0">
              <a:spcAft>
                <a:spcPct val="0"/>
              </a:spcAft>
            </a:pPr>
            <a:r>
              <a:rPr lang="en-US" altLang="zh-CN" sz="4400" dirty="0">
                <a:solidFill>
                  <a:srgbClr val="B28600"/>
                </a:solidFill>
                <a:latin typeface="汉仪旗黑-85S" charset="0"/>
                <a:sym typeface="微软雅黑" panose="020B0503020204020204" pitchFamily="34" charset="-122"/>
              </a:rPr>
              <a:t>3、实验原理</a:t>
            </a:r>
          </a:p>
        </p:txBody>
      </p:sp>
      <p:sp>
        <p:nvSpPr>
          <p:cNvPr id="89092" name="内容占位符 1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1917700" y="1628775"/>
            <a:ext cx="8229600" cy="4525963"/>
          </a:xfrm>
        </p:spPr>
        <p:txBody>
          <a:bodyPr lIns="101600" tIns="0" rIns="82550" bIns="0" anchor="t" anchorCtr="0"/>
          <a:lstStyle/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3.1可编程逻辑器件（FPGA）</a:t>
            </a:r>
          </a:p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320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320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89093" name="Picture 5"/>
          <p:cNvPicPr>
            <a:picLocks noChangeAspect="1"/>
          </p:cNvPicPr>
          <p:nvPr/>
        </p:nvPicPr>
        <p:blipFill>
          <a:blip r:embed="rId6"/>
          <a:srcRect b="11867"/>
          <a:stretch>
            <a:fillRect/>
          </a:stretch>
        </p:blipFill>
        <p:spPr>
          <a:xfrm>
            <a:off x="2998788" y="2563813"/>
            <a:ext cx="3103562" cy="34067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 rot="4562520">
            <a:off x="9839325" y="5903913"/>
            <a:ext cx="617538" cy="839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0115" name="Rectangle 2"/>
          <p:cNvSpPr>
            <a:spLocks noGrp="1"/>
          </p:cNvSpPr>
          <p:nvPr>
            <p:ph type="title"/>
          </p:nvPr>
        </p:nvSpPr>
        <p:spPr>
          <a:xfrm>
            <a:off x="631825" y="274638"/>
            <a:ext cx="8229600" cy="1143000"/>
          </a:xfrm>
        </p:spPr>
        <p:txBody>
          <a:bodyPr lIns="101600" tIns="38100" rIns="76200" bIns="38100" anchor="ctr" anchorCtr="0"/>
          <a:lstStyle/>
          <a:p>
            <a:pPr marL="914400" indent="-914400" algn="l" defTabSz="914400" eaLnBrk="0" fontAlgn="base" hangingPunct="0">
              <a:spcAft>
                <a:spcPct val="0"/>
              </a:spcAft>
            </a:pPr>
            <a:r>
              <a:rPr lang="en-US" altLang="zh-CN" sz="3600">
                <a:solidFill>
                  <a:srgbClr val="B28600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3.1  FPGA的结构与工作原理 </a:t>
            </a:r>
          </a:p>
        </p:txBody>
      </p:sp>
      <p:sp>
        <p:nvSpPr>
          <p:cNvPr id="70659" name="Text 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95500" y="1500188"/>
            <a:ext cx="4460875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b="1" kern="1200" cap="none" spc="0" normalizeH="0" baseline="0" noProof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1.8.2  Cyclone 4E</a:t>
            </a:r>
            <a:r>
              <a:rPr kumimoji="0" lang="zh-CN" altLang="en-US" b="1" kern="1200" cap="none" spc="0" normalizeH="0" baseline="0" noProof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系列器件的结构原理</a:t>
            </a:r>
          </a:p>
        </p:txBody>
      </p:sp>
      <p:pic>
        <p:nvPicPr>
          <p:cNvPr id="90117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125" y="1928813"/>
            <a:ext cx="6429375" cy="45037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2952750" y="6000750"/>
            <a:ext cx="30003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</a:pPr>
            <a:r>
              <a:rPr kumimoji="0" lang="zh-CN" altLang="en-US" sz="1400" b="1" kern="1200" cap="none" spc="0" normalizeH="0" baseline="0" noProof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kumimoji="0" lang="en-US" sz="1400" b="1" kern="1200" cap="none" spc="0" normalizeH="0" baseline="0" noProof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1-21  Cyclone 4E</a:t>
            </a:r>
            <a:r>
              <a:rPr kumimoji="0" lang="zh-CN" altLang="en-US" sz="1400" b="1" kern="1200" cap="none" spc="0" normalizeH="0" baseline="0" noProof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kumimoji="0" lang="en-US" sz="1400" b="1" kern="1200" cap="none" spc="0" normalizeH="0" baseline="0" noProof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</a:t>
            </a:r>
            <a:r>
              <a:rPr kumimoji="0" lang="zh-CN" altLang="en-US" sz="1400" b="1" kern="1200" cap="none" spc="0" normalizeH="0" baseline="0" noProof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结构图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 rot="4562520">
            <a:off x="9839325" y="5903913"/>
            <a:ext cx="617538" cy="839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1139" name="Rectangle 2"/>
          <p:cNvSpPr>
            <a:spLocks noGrp="1"/>
          </p:cNvSpPr>
          <p:nvPr>
            <p:ph type="title"/>
          </p:nvPr>
        </p:nvSpPr>
        <p:spPr>
          <a:xfrm>
            <a:off x="662305" y="294323"/>
            <a:ext cx="8229600" cy="1143000"/>
          </a:xfrm>
        </p:spPr>
        <p:txBody>
          <a:bodyPr wrap="square" lIns="91440" tIns="45720" rIns="91440" bIns="45720" anchor="ctr" anchorCtr="0"/>
          <a:lstStyle/>
          <a:p>
            <a:pPr marL="914400" indent="-914400" algn="l" defTabSz="914400" eaLnBrk="0" fontAlgn="base" hangingPunct="0">
              <a:spcAft>
                <a:spcPct val="0"/>
              </a:spcAft>
            </a:pPr>
            <a:r>
              <a:rPr lang="en-US" altLang="zh-CN" sz="4400" dirty="0">
                <a:solidFill>
                  <a:srgbClr val="B28600"/>
                </a:solidFill>
                <a:latin typeface="汉仪旗黑-85S" charset="0"/>
                <a:sym typeface="微软雅黑" panose="020B0503020204020204" pitchFamily="34" charset="-122"/>
              </a:rPr>
              <a:t>3、实验原理</a:t>
            </a:r>
          </a:p>
        </p:txBody>
      </p:sp>
      <p:sp>
        <p:nvSpPr>
          <p:cNvPr id="91140" name="内容占位符 4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1990725" y="5589588"/>
            <a:ext cx="8210550" cy="565150"/>
          </a:xfrm>
        </p:spPr>
        <p:txBody>
          <a:bodyPr wrap="square" lIns="91440" tIns="45720" rIns="91440" bIns="45720" anchor="t" anchorCtr="0"/>
          <a:lstStyle/>
          <a:p>
            <a:pPr marL="342900" indent="-342900" defTabSz="91440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1. 创建工程；2. 原理图输入；3. 编译；4. 仿真；5、下载</a:t>
            </a: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2668588" y="1720850"/>
            <a:ext cx="4970463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QuartusII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实现设计输入需要以下几个步骤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pic>
        <p:nvPicPr>
          <p:cNvPr id="91142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325" y="2276475"/>
            <a:ext cx="6832600" cy="2754313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图片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 rot="4562520">
            <a:off x="9839325" y="5903913"/>
            <a:ext cx="617538" cy="839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PA-文本框 5"/>
          <p:cNvSpPr txBox="1"/>
          <p:nvPr>
            <p:custDataLst>
              <p:tags r:id="rId3"/>
            </p:custDataLst>
          </p:nvPr>
        </p:nvSpPr>
        <p:spPr>
          <a:xfrm>
            <a:off x="1698625" y="1554163"/>
            <a:ext cx="6049963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dirty="0">
                <a:solidFill>
                  <a:srgbClr val="0052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 </a:t>
            </a:r>
            <a:r>
              <a:rPr lang="zh-CN" altLang="en-US" sz="2100" b="1" dirty="0">
                <a:solidFill>
                  <a:srgbClr val="00528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设计输入 </a:t>
            </a:r>
          </a:p>
        </p:txBody>
      </p:sp>
      <p:graphicFrame>
        <p:nvGraphicFramePr>
          <p:cNvPr id="3" name="PA-组合 2"/>
          <p:cNvGraphicFramePr>
            <a:graphicFrameLocks noGrp="1"/>
          </p:cNvGraphicFramePr>
          <p:nvPr/>
        </p:nvGraphicFramePr>
        <p:xfrm>
          <a:off x="2322513" y="2127250"/>
          <a:ext cx="1028700" cy="1246225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1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输入编辑器</a:t>
                      </a:r>
                    </a:p>
                  </a:txBody>
                  <a:tcPr marL="68580" marR="68580" marT="34321" marB="343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2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编辑输入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电路原理图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或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HDL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</a:t>
                      </a:r>
                    </a:p>
                  </a:txBody>
                  <a:tcPr marL="68580" marR="68580" marT="34321" marB="343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PA-组合 10"/>
          <p:cNvGraphicFramePr>
            <a:graphicFrameLocks noGrp="1"/>
          </p:cNvGraphicFramePr>
          <p:nvPr/>
        </p:nvGraphicFramePr>
        <p:xfrm>
          <a:off x="3808413" y="2070100"/>
          <a:ext cx="1200150" cy="1459266"/>
        </p:xfrm>
        <a:graphic>
          <a:graphicData uri="http://schemas.openxmlformats.org/drawingml/2006/table">
            <a:tbl>
              <a:tblPr/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分析综合器</a:t>
                      </a:r>
                    </a:p>
                  </a:txBody>
                  <a:tcPr marL="68580" marR="68580" marT="34308" marB="343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2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对输入的逻辑描述进行逻辑综合，生成网表文件</a:t>
                      </a:r>
                    </a:p>
                  </a:txBody>
                  <a:tcPr marL="68580" marR="68580" marT="34308" marB="343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PA-组合 18"/>
          <p:cNvGraphicFramePr>
            <a:graphicFrameLocks noGrp="1"/>
          </p:cNvGraphicFramePr>
          <p:nvPr/>
        </p:nvGraphicFramePr>
        <p:xfrm>
          <a:off x="5473700" y="2070100"/>
          <a:ext cx="1714500" cy="145732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3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适配器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结构综合器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)</a:t>
                      </a:r>
                    </a:p>
                  </a:txBody>
                  <a:tcPr marL="68580" marR="68580" marT="34308" marB="343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2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对综合后的网表文件针对选定的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PLD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器件，进行适配，生成下载文件和时序仿真数据</a:t>
                      </a:r>
                    </a:p>
                  </a:txBody>
                  <a:tcPr marL="68580" marR="68580" marT="34308" marB="343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PA-组合 26"/>
          <p:cNvGraphicFramePr>
            <a:graphicFrameLocks noGrp="1"/>
          </p:cNvGraphicFramePr>
          <p:nvPr/>
        </p:nvGraphicFramePr>
        <p:xfrm>
          <a:off x="7634288" y="2055813"/>
          <a:ext cx="1622425" cy="1223962"/>
        </p:xfrm>
        <a:graphic>
          <a:graphicData uri="http://schemas.openxmlformats.org/drawingml/2006/table">
            <a:tbl>
              <a:tblPr/>
              <a:tblGrid>
                <a:gridCol w="162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配置与</a:t>
                      </a:r>
                      <a:r>
                        <a:rPr kumimoji="0" lang="zh-CN" alt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宋体" panose="02010600030101010101" pitchFamily="2" charset="-122"/>
                        </a:rPr>
                        <a:t>下载</a:t>
                      </a: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器</a:t>
                      </a:r>
                    </a:p>
                  </a:txBody>
                  <a:tcPr marL="68607" marR="68607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2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将适配器生成的</a:t>
                      </a: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SOF</a:t>
                      </a: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目标文件向</a:t>
                      </a: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FPGA</a:t>
                      </a: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下载，以便进行硬件验证和系统调试</a:t>
                      </a:r>
                    </a:p>
                  </a:txBody>
                  <a:tcPr marL="68607" marR="68607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PA-组合 34"/>
          <p:cNvGraphicFramePr>
            <a:graphicFrameLocks noGrp="1"/>
          </p:cNvGraphicFramePr>
          <p:nvPr/>
        </p:nvGraphicFramePr>
        <p:xfrm>
          <a:off x="7731125" y="3906838"/>
          <a:ext cx="1428750" cy="1420812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7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编程器</a:t>
                      </a:r>
                    </a:p>
                  </a:txBody>
                  <a:tcPr marL="68580" marR="68580" marT="34282" marB="34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2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0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将编程文件烧写</a:t>
                      </a: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编程</a:t>
                      </a: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进</a:t>
                      </a:r>
                      <a:r>
                        <a:rPr kumimoji="0" 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PLD</a:t>
                      </a: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器件或其专用配置器件中，完成系统设计</a:t>
                      </a:r>
                    </a:p>
                  </a:txBody>
                  <a:tcPr marL="68580" marR="68580" marT="34282" marB="34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PA-组合 42"/>
          <p:cNvGraphicFramePr>
            <a:graphicFrameLocks noGrp="1"/>
          </p:cNvGraphicFramePr>
          <p:nvPr/>
        </p:nvGraphicFramePr>
        <p:xfrm>
          <a:off x="4951413" y="3906838"/>
          <a:ext cx="1828800" cy="14208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7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编程器时序仿真器</a:t>
                      </a:r>
                    </a:p>
                  </a:txBody>
                  <a:tcPr marL="68580" marR="68580" marT="34282" marB="34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2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0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利用编辑好的仿真文件和生成的时序仿真数据对电路进行时序仿真，用于判断电路的性能和功能</a:t>
                      </a:r>
                    </a:p>
                  </a:txBody>
                  <a:tcPr marL="68580" marR="68580" marT="34282" marB="34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PA-直接连接符 37"/>
          <p:cNvCxnSpPr/>
          <p:nvPr>
            <p:custDataLst>
              <p:tags r:id="rId4"/>
            </p:custDataLst>
          </p:nvPr>
        </p:nvCxnSpPr>
        <p:spPr>
          <a:xfrm>
            <a:off x="7408863" y="2870200"/>
            <a:ext cx="0" cy="1828800"/>
          </a:xfrm>
          <a:prstGeom prst="line">
            <a:avLst/>
          </a:prstGeom>
          <a:ln w="50800" cap="flat" cmpd="sng">
            <a:solidFill>
              <a:srgbClr val="0052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PA-直接箭头连接符 39"/>
          <p:cNvCxnSpPr/>
          <p:nvPr>
            <p:custDataLst>
              <p:tags r:id="rId5"/>
            </p:custDataLst>
          </p:nvPr>
        </p:nvCxnSpPr>
        <p:spPr>
          <a:xfrm flipH="1">
            <a:off x="6845300" y="4699000"/>
            <a:ext cx="563563" cy="0"/>
          </a:xfrm>
          <a:prstGeom prst="straightConnector1">
            <a:avLst/>
          </a:prstGeom>
          <a:ln w="50800" cap="flat" cmpd="sng">
            <a:solidFill>
              <a:srgbClr val="005286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1" name="PA-直接连接符 47"/>
          <p:cNvCxnSpPr/>
          <p:nvPr>
            <p:custDataLst>
              <p:tags r:id="rId6"/>
            </p:custDataLst>
          </p:nvPr>
        </p:nvCxnSpPr>
        <p:spPr>
          <a:xfrm flipH="1">
            <a:off x="2836863" y="4699000"/>
            <a:ext cx="2000250" cy="0"/>
          </a:xfrm>
          <a:prstGeom prst="line">
            <a:avLst/>
          </a:prstGeom>
          <a:ln w="50800" cap="flat" cmpd="sng">
            <a:solidFill>
              <a:srgbClr val="0052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PA-直接箭头连接符 50"/>
          <p:cNvCxnSpPr/>
          <p:nvPr>
            <p:custDataLst>
              <p:tags r:id="rId7"/>
            </p:custDataLst>
          </p:nvPr>
        </p:nvCxnSpPr>
        <p:spPr>
          <a:xfrm flipV="1">
            <a:off x="2836863" y="3213100"/>
            <a:ext cx="0" cy="1485900"/>
          </a:xfrm>
          <a:prstGeom prst="straightConnector1">
            <a:avLst/>
          </a:prstGeom>
          <a:ln w="50800" cap="flat" cmpd="sng">
            <a:solidFill>
              <a:srgbClr val="005286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3" name="PA-文本框 5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879725" y="4171950"/>
            <a:ext cx="1943100" cy="5067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如果不符合既定要求，需要进一步完善设计</a:t>
            </a:r>
          </a:p>
        </p:txBody>
      </p:sp>
      <p:sp>
        <p:nvSpPr>
          <p:cNvPr id="14" name="PA-文本框 55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565275" y="4778982"/>
            <a:ext cx="3159125" cy="714750"/>
          </a:xfrm>
          <a:prstGeom prst="round2DiagRect">
            <a:avLst/>
          </a:prstGeom>
          <a:solidFill>
            <a:srgbClr val="CC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针对</a:t>
            </a:r>
            <a:r>
              <a: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PLD</a:t>
            </a: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的数字系统开发流程</a:t>
            </a:r>
          </a:p>
        </p:txBody>
      </p:sp>
      <p:sp>
        <p:nvSpPr>
          <p:cNvPr id="15" name="PA-矩形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667000" y="707708"/>
            <a:ext cx="309880" cy="29908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8" name="PA-直接箭头连接符 39"/>
          <p:cNvCxnSpPr/>
          <p:nvPr>
            <p:custDataLst>
              <p:tags r:id="rId11"/>
            </p:custDataLst>
          </p:nvPr>
        </p:nvCxnSpPr>
        <p:spPr>
          <a:xfrm>
            <a:off x="3408363" y="2725738"/>
            <a:ext cx="347662" cy="0"/>
          </a:xfrm>
          <a:prstGeom prst="straightConnector1">
            <a:avLst/>
          </a:prstGeom>
          <a:ln w="50800" cap="flat" cmpd="sng">
            <a:solidFill>
              <a:srgbClr val="005286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9" name="PA-直接箭头连接符 39"/>
          <p:cNvCxnSpPr/>
          <p:nvPr>
            <p:custDataLst>
              <p:tags r:id="rId12"/>
            </p:custDataLst>
          </p:nvPr>
        </p:nvCxnSpPr>
        <p:spPr>
          <a:xfrm>
            <a:off x="5064125" y="2725738"/>
            <a:ext cx="346075" cy="0"/>
          </a:xfrm>
          <a:prstGeom prst="straightConnector1">
            <a:avLst/>
          </a:prstGeom>
          <a:ln w="50800" cap="flat" cmpd="sng">
            <a:solidFill>
              <a:srgbClr val="005286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" name="PA-直接箭头连接符 39"/>
          <p:cNvCxnSpPr/>
          <p:nvPr>
            <p:custDataLst>
              <p:tags r:id="rId13"/>
            </p:custDataLst>
          </p:nvPr>
        </p:nvCxnSpPr>
        <p:spPr>
          <a:xfrm>
            <a:off x="7234238" y="2725738"/>
            <a:ext cx="346075" cy="0"/>
          </a:xfrm>
          <a:prstGeom prst="straightConnector1">
            <a:avLst/>
          </a:prstGeom>
          <a:ln w="50800" cap="flat" cmpd="sng">
            <a:solidFill>
              <a:srgbClr val="005286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1" name="PA-直接箭头连接符 39"/>
          <p:cNvCxnSpPr/>
          <p:nvPr>
            <p:custDataLst>
              <p:tags r:id="rId14"/>
            </p:custDataLst>
          </p:nvPr>
        </p:nvCxnSpPr>
        <p:spPr>
          <a:xfrm>
            <a:off x="8445500" y="3324225"/>
            <a:ext cx="0" cy="517525"/>
          </a:xfrm>
          <a:prstGeom prst="straightConnector1">
            <a:avLst/>
          </a:prstGeom>
          <a:ln w="50800" cap="flat" cmpd="sng">
            <a:solidFill>
              <a:srgbClr val="005286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2" name="标题 1"/>
          <p:cNvSpPr txBox="1"/>
          <p:nvPr/>
        </p:nvSpPr>
        <p:spPr>
          <a:xfrm>
            <a:off x="683578" y="294958"/>
            <a:ext cx="7837488" cy="5111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1"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3.2</a:t>
            </a:r>
            <a:r>
              <a:rPr kumimoji="0" lang="zh-CN" altLang="en-US" sz="2700" b="1" i="0" u="none" strike="noStrike" kern="1200" cap="none" spc="0" normalizeH="0" baseline="0" noProof="1"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实验原理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 rot="6360000">
            <a:off x="9981724" y="5903278"/>
            <a:ext cx="602933" cy="767715"/>
          </a:xfrm>
          <a:prstGeom prst="rect">
            <a:avLst/>
          </a:prstGeom>
        </p:spPr>
      </p:pic>
      <p:sp>
        <p:nvSpPr>
          <p:cNvPr id="21506" name="Rectangle 12"/>
          <p:cNvSpPr/>
          <p:nvPr>
            <p:custDataLst>
              <p:tags r:id="rId3"/>
            </p:custDataLst>
          </p:nvPr>
        </p:nvSpPr>
        <p:spPr>
          <a:xfrm>
            <a:off x="2879725" y="340201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7" name="Rectangle 2"/>
          <p:cNvSpPr/>
          <p:nvPr>
            <p:custDataLst>
              <p:tags r:id="rId4"/>
            </p:custDataLst>
          </p:nvPr>
        </p:nvSpPr>
        <p:spPr>
          <a:xfrm>
            <a:off x="1701800" y="-360362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8" name="Rectangle 2"/>
          <p:cNvSpPr txBox="1"/>
          <p:nvPr/>
        </p:nvSpPr>
        <p:spPr>
          <a:xfrm>
            <a:off x="987425" y="36734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914400" lvl="0" indent="-914400" algn="l"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、硬件测试</a:t>
            </a: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362393" y="1570038"/>
            <a:ext cx="4572000" cy="7372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）、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引脚锁定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芯片型号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2710" y="4359910"/>
            <a:ext cx="2605405" cy="5022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2855" y="2761615"/>
            <a:ext cx="2658110" cy="10090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7795" y="1618615"/>
            <a:ext cx="5320030" cy="41649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 rot="6360000">
            <a:off x="9981724" y="5903278"/>
            <a:ext cx="602933" cy="767715"/>
          </a:xfrm>
          <a:prstGeom prst="rect">
            <a:avLst/>
          </a:prstGeom>
        </p:spPr>
      </p:pic>
      <p:sp>
        <p:nvSpPr>
          <p:cNvPr id="21506" name="Rectangle 12"/>
          <p:cNvSpPr/>
          <p:nvPr>
            <p:custDataLst>
              <p:tags r:id="rId3"/>
            </p:custDataLst>
          </p:nvPr>
        </p:nvSpPr>
        <p:spPr>
          <a:xfrm>
            <a:off x="1383030" y="246983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7" name="Rectangle 2"/>
          <p:cNvSpPr/>
          <p:nvPr>
            <p:custDataLst>
              <p:tags r:id="rId4"/>
            </p:custDataLst>
          </p:nvPr>
        </p:nvSpPr>
        <p:spPr>
          <a:xfrm>
            <a:off x="1701800" y="-360362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8" name="Rectangle 2"/>
          <p:cNvSpPr txBox="1"/>
          <p:nvPr>
            <p:custDataLst>
              <p:tags r:id="rId5"/>
            </p:custDataLst>
          </p:nvPr>
        </p:nvSpPr>
        <p:spPr>
          <a:xfrm>
            <a:off x="926465" y="4270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914400" lvl="0" indent="-914400" algn="l"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、硬件测试</a:t>
            </a: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509395" y="1569720"/>
            <a:ext cx="7566660" cy="11309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远程实境实验平台：</a:t>
            </a:r>
            <a:r>
              <a:rPr kumimoji="0" lang="en-US" altLang="zh-CN" sz="28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www.remote-lab.com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77035" y="2304415"/>
            <a:ext cx="32823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登录名：</a:t>
            </a:r>
            <a:r>
              <a:rPr lang="zh-CN" altLang="en-US" sz="3600">
                <a:highlight>
                  <a:srgbClr val="FFFF00"/>
                </a:highlight>
              </a:rPr>
              <a:t>学号</a:t>
            </a:r>
          </a:p>
          <a:p>
            <a:r>
              <a:rPr lang="zh-CN" altLang="en-US" sz="3600"/>
              <a:t>密码：</a:t>
            </a:r>
            <a:r>
              <a:rPr lang="en-US" altLang="zh-CN" sz="3600">
                <a:highlight>
                  <a:srgbClr val="FFFF00"/>
                </a:highlight>
              </a:rPr>
              <a:t>123456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0030" y="3563620"/>
            <a:ext cx="8503920" cy="319278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6960235" y="2700020"/>
            <a:ext cx="1164590" cy="1377315"/>
          </a:xfrm>
          <a:prstGeom prst="straightConnector1">
            <a:avLst/>
          </a:prstGeom>
          <a:ln w="85725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 rot="6360000">
            <a:off x="9981724" y="5903278"/>
            <a:ext cx="602933" cy="767715"/>
          </a:xfrm>
          <a:prstGeom prst="rect">
            <a:avLst/>
          </a:prstGeom>
        </p:spPr>
      </p:pic>
      <p:sp>
        <p:nvSpPr>
          <p:cNvPr id="21506" name="Rectangle 12"/>
          <p:cNvSpPr/>
          <p:nvPr>
            <p:custDataLst>
              <p:tags r:id="rId3"/>
            </p:custDataLst>
          </p:nvPr>
        </p:nvSpPr>
        <p:spPr>
          <a:xfrm>
            <a:off x="2487930" y="246983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7" name="Rectangle 2"/>
          <p:cNvSpPr/>
          <p:nvPr>
            <p:custDataLst>
              <p:tags r:id="rId4"/>
            </p:custDataLst>
          </p:nvPr>
        </p:nvSpPr>
        <p:spPr>
          <a:xfrm>
            <a:off x="1701800" y="-360362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08" name="Rectangle 2"/>
          <p:cNvSpPr txBox="1"/>
          <p:nvPr/>
        </p:nvSpPr>
        <p:spPr>
          <a:xfrm>
            <a:off x="541020" y="35401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</a:lstStyle>
          <a:p>
            <a:pPr marL="914400" lvl="0" indent="-914400" algn="l"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、实验平台界面</a:t>
            </a: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2781935" y="1844040"/>
            <a:ext cx="588772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远程实境实验平台：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www.ycsypt.com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781935" y="2304415"/>
            <a:ext cx="32823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/>
              <a:t>登录名：</a:t>
            </a:r>
            <a:r>
              <a:rPr lang="zh-CN" altLang="en-US" sz="3600">
                <a:highlight>
                  <a:srgbClr val="FFFF00"/>
                </a:highlight>
              </a:rPr>
              <a:t>学号</a:t>
            </a:r>
          </a:p>
          <a:p>
            <a:r>
              <a:rPr lang="zh-CN" altLang="en-US" sz="3600"/>
              <a:t>密码：</a:t>
            </a:r>
            <a:r>
              <a:rPr lang="en-US" altLang="zh-CN" sz="3600">
                <a:highlight>
                  <a:srgbClr val="FFFF00"/>
                </a:highlight>
              </a:rPr>
              <a:t>123456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8470" y="3573145"/>
            <a:ext cx="6892290" cy="250634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6960235" y="2700020"/>
            <a:ext cx="1164590" cy="1377315"/>
          </a:xfrm>
          <a:prstGeom prst="straightConnector1">
            <a:avLst/>
          </a:prstGeom>
          <a:ln w="85725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9055" y="1377315"/>
            <a:ext cx="7655560" cy="51765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362E0-4D94-436A-EE8E-61959F28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AB9E2A3-0F61-2E80-F326-B4B6F28A80AC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rot="836205" flipH="1">
            <a:off x="10754590" y="5080385"/>
            <a:ext cx="1535059" cy="1616549"/>
          </a:xfrm>
          <a:prstGeom prst="rect">
            <a:avLst/>
          </a:prstGeom>
        </p:spPr>
      </p:pic>
      <p:sp>
        <p:nvSpPr>
          <p:cNvPr id="22" name="稻壳儿搜索【幻雨工作室】_14">
            <a:extLst>
              <a:ext uri="{FF2B5EF4-FFF2-40B4-BE49-F238E27FC236}">
                <a16:creationId xmlns:a16="http://schemas.microsoft.com/office/drawing/2014/main" id="{DCE96F51-2BE9-5144-A6CC-02C07E206830}"/>
              </a:ext>
            </a:extLst>
          </p:cNvPr>
          <p:cNvSpPr txBox="1"/>
          <p:nvPr/>
        </p:nvSpPr>
        <p:spPr>
          <a:xfrm>
            <a:off x="269253" y="344963"/>
            <a:ext cx="4297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二、实验内容与要求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46E9B1-CF7F-E5DE-C7AF-ADD621D4293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91515" y="1248410"/>
            <a:ext cx="10491470" cy="4326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以下实验内容</a:t>
            </a:r>
            <a:r>
              <a:rPr altLang="zh-CN" sz="2400" dirty="0">
                <a:solidFill>
                  <a:srgbClr val="180BC7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3选2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，基于QuartusII完成电路的设计、仿真，</a:t>
            </a:r>
            <a:r>
              <a:rPr altLang="zh-CN" sz="2400" dirty="0">
                <a:solidFill>
                  <a:srgbClr val="180BC7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基于远程实验平台完成硬件下载和测试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，提交电路原理图、仿真波形图以及下载界面截图。</a:t>
            </a:r>
          </a:p>
          <a:p>
            <a:endParaRPr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 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用74LS153实现</a:t>
            </a:r>
            <a:r>
              <a:rPr altLang="zh-CN" sz="2400" dirty="0">
                <a:solidFill>
                  <a:srgbClr val="180BC7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一位全加器</a:t>
            </a:r>
            <a:r>
              <a:rPr 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 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数据选择器实现组合逻辑函数，该电路有3个输入逻辑变量A、B、C和1个工作状态控制变量M，当M＝0时电路实现“意见一致”功能（A、B、C状态一致输出为1,否则输出为0），而M＝1时电路实现“多数表决”功能，即输出与A、B、C中多数的状态一致。</a:t>
            </a:r>
          </a:p>
          <a:p>
            <a:endParaRPr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 </a:t>
            </a:r>
            <a:r>
              <a:rPr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用八选一的数据选择器74151，设计电路判断一位余3码是否大于5。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3136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搜索【幻雨工作室】_14">
            <a:extLst>
              <a:ext uri="{FF2B5EF4-FFF2-40B4-BE49-F238E27FC236}">
                <a16:creationId xmlns:a16="http://schemas.microsoft.com/office/drawing/2014/main" id="{C6E7C44F-3340-6F10-B308-613EB38CC79A}"/>
              </a:ext>
            </a:extLst>
          </p:cNvPr>
          <p:cNvSpPr txBox="1"/>
          <p:nvPr/>
        </p:nvSpPr>
        <p:spPr>
          <a:xfrm>
            <a:off x="520770" y="1071986"/>
            <a:ext cx="108550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、下周自行完成实验，作业交于学习通（实验</a:t>
            </a:r>
            <a:r>
              <a:rPr lang="en-US" altLang="zh-CN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34</a:t>
            </a:r>
            <a:r>
              <a:rPr lang="zh-CN" altLang="en-US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en-US" altLang="zh-CN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</a:t>
            </a:r>
          </a:p>
          <a:p>
            <a:r>
              <a:rPr lang="en-US" altLang="zh-CN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、下下周课堂测。</a:t>
            </a:r>
            <a:endParaRPr lang="en-US" altLang="zh-CN" sz="3600" dirty="0">
              <a:solidFill>
                <a:schemeClr val="accent1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en-US" altLang="zh-CN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3600" dirty="0">
                <a:solidFill>
                  <a:schemeClr val="accent1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、善于使用智慧体小助手。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6DC159-37B1-9355-5E5E-B6DE2AED6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0387" y="-1267955"/>
            <a:ext cx="6273082" cy="1292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39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微信扫码即可使用，用的时候，问题尽量说清楚，而且可能需要大家各自训练一下。例如有同学问远程平台的芯片型号，“杭电远程实验平台FPGA芯片的型号是什么？”这样问才能得到正确回答。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90E704-351E-344D-1102-9AC51D017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387" y="2087191"/>
            <a:ext cx="3380645" cy="369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532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825115" y="3103245"/>
            <a:ext cx="67964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感</a:t>
            </a:r>
            <a:r>
              <a:rPr lang="en-US" altLang="zh-CN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谢</a:t>
            </a:r>
            <a:r>
              <a:rPr lang="en-US" altLang="zh-CN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大</a:t>
            </a:r>
            <a:r>
              <a:rPr lang="en-US" altLang="zh-CN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家</a:t>
            </a:r>
            <a:r>
              <a:rPr lang="en-US" altLang="zh-CN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的</a:t>
            </a:r>
            <a:r>
              <a:rPr lang="en-US" altLang="zh-CN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观</a:t>
            </a:r>
            <a:r>
              <a:rPr lang="en-US" altLang="zh-CN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 sz="4800" dirty="0">
                <a:solidFill>
                  <a:schemeClr val="accent1">
                    <a:lumMod val="2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看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661d06c-ff4f-4d19-a1eb-d16e6e324bfe"/>
  <p:tag name="COMMONDATA" val="eyJjb3VudCI6NSwiaGRpZCI6Ijc0Mjc3ZWNlMWYzNTc3Y2JjNGQ0NzhkOWQ1YTEwODM0IiwidXNlckNvdW50Ijo1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14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14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149"/>
  <p:tag name="KSO_WM_TEMPLATE_MASTER_THUMB_INDEX" val="12"/>
  <p:tag name="KSO_WM_TEMPLATE_THUMBS_INDEX" val="1、4、7、8、9、10、13、18、21、25、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6ed82fa5-2a03-4f0e-8e34-f877486a1f0b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149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3149"/>
  <p:tag name="KSO_WM_SLIDE_LAYOUT" val="a_b"/>
  <p:tag name="KSO_WM_SLIDE_LAYOUT_CNT" val="1_1"/>
  <p:tag name="KSO_WM_TEMPLATE_MASTER_THUMB_INDEX" val="12"/>
  <p:tag name="KSO_WM_TEMPLATE_THUMBS_INDEX" val="1、4、7、8、9、10、13、18、21、25、26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  <p:tag name="KSO_WM_UNIT_TEXT_FILL_FORE_SCHEMECOLOR_INDEX_BRIGHTNESS" val="0"/>
  <p:tag name="KSO_WM_UNIT_TEXT_FILL_FORE_SCHEMECOLOR_INDEX" val="14"/>
  <p:tag name="KSO_WM_UNIT_TEXT_FILL_TYP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暖色马卡龙通用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149_1*a*1"/>
  <p:tag name="KSO_WM_TEMPLATE_CATEGORY" val="custom"/>
  <p:tag name="KSO_WM_TEMPLATE_INDEX" val="20203149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文本具体内容，简明扼要的阐述您的观点。"/>
  <p:tag name="KSO_WM_UNIT_NOCLEAR" val="0"/>
  <p:tag name="KSO_WM_UNIT_VALUE" val="7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3149_1*b*1"/>
  <p:tag name="KSO_WM_TEMPLATE_CATEGORY" val="custom"/>
  <p:tag name="KSO_WM_TEMPLATE_INDEX" val="20203149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6ed82fa5-2a03-4f0e-8e34-f877486a1f0b}"/>
  <p:tag name="KSO_WM_UNIT_TYPE" val="i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6ed82fa5-2a03-4f0e-8e34-f877486a1f0b}"/>
  <p:tag name="KSO_WM_UNIT_TYPE" val="i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149_7*a*1"/>
  <p:tag name="KSO_WM_TEMPLATE_CATEGORY" val="custom"/>
  <p:tag name="KSO_WM_TEMPLATE_INDEX" val="20203149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adf5d4a2-407d-4ca2-9678-d26382de7137}"/>
  <p:tag name="KSO_WM_UNIT_TYPE" val="i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  <p:tag name="KSO_WM_UNIT_PLACING_PICTURE_USER_VIEWPORT" val="{&quot;height&quot;:3480,&quot;width&quot;:8652.500787401576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134ba07f-d3e0-452a-be77-d606a9ac9c8e}"/>
  <p:tag name="KSO_WM_UNIT_TYPE" val="i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e672215e-a333-4eea-b663-ae558cee299b}"/>
  <p:tag name="KSO_WM_UNIT_TYPE" val="i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79a6c605-63b4-4c9d-aa8f-9d5541c6ae3c}"/>
  <p:tag name="KSO_WM_UNIT_TYPE" val="i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387780a6-2e4b-4ac9-bbce-3dd90eb81b3d}"/>
  <p:tag name="KSO_WM_UNIT_TYPE" val="i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5513930f-bcd7-44c2-94d1-fa81fda4ad4f}"/>
  <p:tag name="KSO_WM_UNIT_TYPE" val="i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  <p:tag name="KSO_WM_UNIT_TEXT_FILL_FORE_SCHEMECOLOR_INDEX_BRIGHTNESS" val="0"/>
  <p:tag name="KSO_WM_UNIT_TEXT_FILL_FORE_SCHEMECOLOR_INDEX" val="13"/>
  <p:tag name="KSO_WM_UNIT_TEXT_FILL_TYP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  <p:tag name="KSO_WM_UNIT_TEXT_FILL_FORE_SCHEMECOLOR_INDEX_BRIGHTNESS" val="0"/>
  <p:tag name="KSO_WM_UNIT_TEXT_FILL_FORE_SCHEMECOLOR_INDEX" val="13"/>
  <p:tag name="KSO_WM_UNIT_TEXT_FILL_TYPE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  <p:tag name="KSO_WM_UNIT_TEXT_FILL_FORE_SCHEMECOLOR_INDEX_BRIGHTNESS" val="0"/>
  <p:tag name="KSO_WM_UNIT_TEXT_FILL_FORE_SCHEMECOLOR_INDEX" val="13"/>
  <p:tag name="KSO_WM_UNIT_TEXT_FILL_TYPE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8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6bb19575-58e9-4347-9861-644e2f6f0fad}"/>
  <p:tag name="KSO_WM_UNIT_TYPE" val="i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6bb19575-58e9-4347-9861-644e2f6f0fad}"/>
  <p:tag name="KSO_WM_UNIT_TYPE" val="i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0,&quot;width&quot;:12960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6bb19575-58e9-4347-9861-644e2f6f0fad}"/>
  <p:tag name="KSO_WM_UNIT_TYPE" val="i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K_DARK_LIGHT" val="2"/>
  <p:tag name="KSO_WM_SLIDE_BACKGROUND_TYPE" val="genera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6ed82fa5-2a03-4f0e-8e34-f877486a1f0b}"/>
  <p:tag name="KSO_WM_UNIT_TYPE" val="i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149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3149"/>
  <p:tag name="KSO_WM_SLIDE_LAYOUT" val="a_b_e"/>
  <p:tag name="KSO_WM_SLIDE_LAYOUT_CNT" val="1_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9">
      <a:dk1>
        <a:sysClr val="windowText" lastClr="000000"/>
      </a:dk1>
      <a:lt1>
        <a:sysClr val="window" lastClr="FFFFFF"/>
      </a:lt1>
      <a:dk2>
        <a:srgbClr val="EAF0F2"/>
      </a:dk2>
      <a:lt2>
        <a:srgbClr val="FFFFFF"/>
      </a:lt2>
      <a:accent1>
        <a:srgbClr val="CBDFEA"/>
      </a:accent1>
      <a:accent2>
        <a:srgbClr val="D3DBE8"/>
      </a:accent2>
      <a:accent3>
        <a:srgbClr val="D8D7E6"/>
      </a:accent3>
      <a:accent4>
        <a:srgbClr val="DDD3E3"/>
      </a:accent4>
      <a:accent5>
        <a:srgbClr val="E2CFE1"/>
      </a:accent5>
      <a:accent6>
        <a:srgbClr val="E7CBDF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736</Words>
  <Application>Microsoft Office PowerPoint</Application>
  <PresentationFormat>宽屏</PresentationFormat>
  <Paragraphs>78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创艺简魏碑</vt:lpstr>
      <vt:lpstr>等线</vt:lpstr>
      <vt:lpstr>等线 Light</vt:lpstr>
      <vt:lpstr>汉仪旗黑-85S</vt:lpstr>
      <vt:lpstr>黑体</vt:lpstr>
      <vt:lpstr>微软雅黑</vt:lpstr>
      <vt:lpstr>Arial</vt:lpstr>
      <vt:lpstr>Calibri</vt:lpstr>
      <vt:lpstr>Times New Roman</vt:lpstr>
      <vt:lpstr>Wingdings</vt:lpstr>
      <vt:lpstr>Office 主题​​</vt:lpstr>
      <vt:lpstr>2_Office 主题​​</vt:lpstr>
      <vt:lpstr>Microsoft 公式 3.0</vt:lpstr>
      <vt:lpstr>Microsoft Office Visio 绘图</vt:lpstr>
      <vt:lpstr>实验三：</vt:lpstr>
      <vt:lpstr>PowerPoint 演示文稿</vt:lpstr>
      <vt:lpstr>PowerPoint 演示文稿</vt:lpstr>
      <vt:lpstr>74LS153的功能表和表达式 </vt:lpstr>
      <vt:lpstr>74151管脚图</vt:lpstr>
      <vt:lpstr>74LS153实现全加器的参考电路</vt:lpstr>
      <vt:lpstr>3、实验原理</vt:lpstr>
      <vt:lpstr>3、实验原理</vt:lpstr>
      <vt:lpstr>3、实验原理</vt:lpstr>
      <vt:lpstr>3.1  FPGA的结构与工作原理 </vt:lpstr>
      <vt:lpstr>3、实验原理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吴贤</dc:creator>
  <cp:lastModifiedBy>year new</cp:lastModifiedBy>
  <cp:revision>22</cp:revision>
  <dcterms:created xsi:type="dcterms:W3CDTF">2018-12-04T07:02:00Z</dcterms:created>
  <dcterms:modified xsi:type="dcterms:W3CDTF">2025-04-12T11:58:13Z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KSOTemplateUUID">
    <vt:lpwstr>v1.0_mb_1msreKHN3IXHuca9wFczaQ==</vt:lpwstr>
  </property>
  <property fmtid="{D5CDD505-2E9C-101B-9397-08002B2CF9AE}" pid="4" name="ICV">
    <vt:lpwstr>4E6A46F29C6A4673BA1CF789FAA6EE70</vt:lpwstr>
  </property>
</Properties>
</file>